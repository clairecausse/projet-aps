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4CE9A3-DC68-4984-8E97-CBFE0DD003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E71B7E-2F42-4996-864E-01F387874F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2C80DD-1C05-4308-B7D3-F872078CA4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0CBA98-2BA7-48FB-8F3A-2D7DD7C0F0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7BB1E4-2A17-4D26-9A1D-3424EB9B27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D3A963-CDBC-46D8-B450-AFA9CDEC7D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2C9B324-693D-46FA-BF1F-B3CCC025A1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429158-799B-4A8E-BF01-83DA809FD8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336825-12AA-40A8-A32C-166CE1ADAF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F86765-954C-4B52-9CC4-1F84D024F7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8DED42-293E-4C5C-BD75-E2AA622A7F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88160" cy="4114080"/>
          </a:xfrm>
          <a:prstGeom prst="rect">
            <a:avLst/>
          </a:prstGeom>
          <a:solidFill>
            <a:srgbClr val="1a37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48640" y="548640"/>
            <a:ext cx="110635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Prévision du niveau des nappes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phréatiques par réseaux de neurones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48640" y="274320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add8e6"/>
                </a:solidFill>
                <a:effectLst/>
                <a:uFillTx/>
                <a:latin typeface="Calibri"/>
              </a:rPr>
              <a:t>Données hydrologiques australiennes — 2 510 puits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2286000" y="3931920"/>
            <a:ext cx="7588800" cy="54000"/>
          </a:xfrm>
          <a:prstGeom prst="rect">
            <a:avLst/>
          </a:prstGeom>
          <a:solidFill>
            <a:srgbClr val="f0c0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548640" y="4297680"/>
            <a:ext cx="54856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376c"/>
                </a:solidFill>
                <a:effectLst/>
                <a:uFillTx/>
                <a:latin typeface="Calibri"/>
              </a:rPr>
              <a:t>Claire CAUSSE – Marius AVIGNANT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217920" y="4297680"/>
            <a:ext cx="5485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a376c"/>
                </a:solidFill>
                <a:effectLst/>
                <a:uFillTx/>
                <a:latin typeface="Calibri"/>
              </a:rPr>
              <a:t>Master 1 — 2025/2026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548640" y="5120640"/>
            <a:ext cx="3474000" cy="639360"/>
          </a:xfrm>
          <a:prstGeom prst="rect">
            <a:avLst/>
          </a:prstGeom>
          <a:solidFill>
            <a:srgbClr val="276f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640080" y="5166360"/>
            <a:ext cx="3291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1 : Visualisation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9"/>
          <p:cNvSpPr/>
          <p:nvPr/>
        </p:nvSpPr>
        <p:spPr>
          <a:xfrm>
            <a:off x="4389120" y="5120640"/>
            <a:ext cx="3474000" cy="639360"/>
          </a:xfrm>
          <a:prstGeom prst="rect">
            <a:avLst/>
          </a:prstGeom>
          <a:solidFill>
            <a:srgbClr val="e07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4480560" y="5166360"/>
            <a:ext cx="3291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2a : LSTM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1"/>
          <p:cNvSpPr/>
          <p:nvPr/>
        </p:nvSpPr>
        <p:spPr>
          <a:xfrm>
            <a:off x="8229600" y="5120640"/>
            <a:ext cx="3474000" cy="639360"/>
          </a:xfrm>
          <a:prstGeom prst="rect">
            <a:avLst/>
          </a:prstGeom>
          <a:solidFill>
            <a:srgbClr val="6a3d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8321040" y="5166360"/>
            <a:ext cx="3291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2b : Chronos 2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a37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274320" y="91440"/>
            <a:ext cx="11612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1 — Les données &amp; Visualisation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274320" y="1143000"/>
            <a:ext cx="411408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11480" y="1252800"/>
            <a:ext cx="383976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76c"/>
                </a:solidFill>
                <a:effectLst/>
                <a:uFillTx/>
                <a:latin typeface="Calibri"/>
              </a:rPr>
              <a:t>Les données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2 510 fichiers CSV (un par puit)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6 variables par puit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GWL  →  niveau de la nappe (m)  [cible]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P    →  précipitations (mm/mois)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T    →  température (°C)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ET   →  évapotranspiration (mm/mois)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NDVI →  indice de végétation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Date →  mensuelle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OUVRAGES.csv : coordonnées GPS + région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8 régions : VIC, NSW, WA, QLD, SA, TAS, NT, ACT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5"/>
          <p:cNvSpPr/>
          <p:nvPr/>
        </p:nvSpPr>
        <p:spPr>
          <a:xfrm>
            <a:off x="4572000" y="1143000"/>
            <a:ext cx="347400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4709160" y="1252800"/>
            <a:ext cx="319968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76c"/>
                </a:solidFill>
                <a:effectLst/>
                <a:uFillTx/>
                <a:latin typeface="Calibri"/>
              </a:rPr>
              <a:t>Méthode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Fonction générique plot_well(id)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Figure A — Valeurs brutes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5 sous-graphiques superposés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(un par variable)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Figure B — Valeurs normalisées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Normalisation z-score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x̃ = (x − μ) / σ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Permet de comparer des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variables d'unités différentes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7" descr="10029257_brut.png"/>
          <p:cNvPicPr/>
          <p:nvPr/>
        </p:nvPicPr>
        <p:blipFill>
          <a:blip r:embed="rId1"/>
          <a:stretch/>
        </p:blipFill>
        <p:spPr>
          <a:xfrm>
            <a:off x="8229600" y="1143000"/>
            <a:ext cx="3656880" cy="24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8" descr="10029257_normalise.png"/>
          <p:cNvPicPr/>
          <p:nvPr/>
        </p:nvPicPr>
        <p:blipFill>
          <a:blip r:embed="rId2"/>
          <a:stretch/>
        </p:blipFill>
        <p:spPr>
          <a:xfrm>
            <a:off x="8229600" y="3749040"/>
            <a:ext cx="3656880" cy="24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9"/>
          <p:cNvSpPr/>
          <p:nvPr/>
        </p:nvSpPr>
        <p:spPr>
          <a:xfrm>
            <a:off x="8229600" y="3566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76fbf"/>
                </a:solidFill>
                <a:effectLst/>
                <a:uFillTx/>
                <a:latin typeface="Calibri"/>
              </a:rPr>
              <a:t>Puit NSW — brut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8229600" y="61722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76fbf"/>
                </a:solidFill>
                <a:effectLst/>
                <a:uFillTx/>
                <a:latin typeface="Calibri"/>
              </a:rPr>
              <a:t>Puit NSW — normalisé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e07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274320" y="91440"/>
            <a:ext cx="11612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2a — Modèle LSTM générique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274320" y="1143000"/>
            <a:ext cx="393120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411480" y="1252800"/>
            <a:ext cx="365688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Architecture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Un seul modèle pour tous les 2 510 puits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Entrées (6 features)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P, T, ET, NDVI + lat + lon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Séquences glissantes de 12 mois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→ prédit GWL au mois suivant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Architecture finale (grid search)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hidden = 128  |  layers = 3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lr = 5×10⁻⁴   |  batch = 512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epochs = 30   |  dropout = 0.2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5"/>
          <p:cNvSpPr/>
          <p:nvPr/>
        </p:nvSpPr>
        <p:spPr>
          <a:xfrm>
            <a:off x="4389120" y="1143000"/>
            <a:ext cx="365688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4526280" y="1252800"/>
            <a:ext cx="3382560" cy="20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Grid Search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108 combinaisons testées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hidden : 64, 128, 256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layers : 1, 2, 3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lr     : 1e-3, 5e-4, 1e-4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batch  : 256, 512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epochs : 30, 50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7"/>
          <p:cNvSpPr/>
          <p:nvPr/>
        </p:nvSpPr>
        <p:spPr>
          <a:xfrm>
            <a:off x="8321040" y="1143000"/>
            <a:ext cx="3565440" cy="2559600"/>
          </a:xfrm>
          <a:prstGeom prst="rect">
            <a:avLst/>
          </a:prstGeom>
          <a:solidFill>
            <a:srgbClr val="fff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8412480" y="118872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Résultats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8412480" y="16916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moyen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10332720" y="169164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0.805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8412480" y="21488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moyen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10332720" y="214884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0.686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8412480" y="26060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médian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4"/>
          <p:cNvSpPr/>
          <p:nvPr/>
        </p:nvSpPr>
        <p:spPr>
          <a:xfrm>
            <a:off x="10332720" y="260604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0.440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8412480" y="30632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médian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10332720" y="3063240"/>
            <a:ext cx="1462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0.356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7"/>
          <p:cNvSpPr/>
          <p:nvPr/>
        </p:nvSpPr>
        <p:spPr>
          <a:xfrm>
            <a:off x="8321040" y="3931920"/>
            <a:ext cx="3565440" cy="237672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8412480" y="397764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376c"/>
                </a:solidFill>
                <a:effectLst/>
                <a:uFillTx/>
                <a:latin typeface="Calibri"/>
              </a:rPr>
              <a:t>Fonctionnement LSTM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8412480" y="4389120"/>
            <a:ext cx="338256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12 mois d'historique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[P, T, ET, NDVI, lat, lon]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    ↓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3 couches LSTM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    ↓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Prédiction GWL (m)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6a3d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274320" y="91440"/>
            <a:ext cx="11612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Partie 2b — Chronos 2 (Foundation Model)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274320" y="1143000"/>
            <a:ext cx="393120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411480" y="1252800"/>
            <a:ext cx="365688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Qu'est-ce que Chronos 2 ?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Modèle pré-entraîné par Amazon sur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des milliers de séries temporelles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Apprentissage auto-supervisé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(pas besoin de nos données)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Utilisation zero-shot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aucun entraînement sur nos puits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Entrée : historique GWL uniquement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(modèle univarié)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Prédit une distribution probabiliste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→ on prend la médiane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5"/>
          <p:cNvSpPr/>
          <p:nvPr/>
        </p:nvSpPr>
        <p:spPr>
          <a:xfrm>
            <a:off x="4389120" y="1143000"/>
            <a:ext cx="3656880" cy="2559600"/>
          </a:xfrm>
          <a:prstGeom prst="rect">
            <a:avLst/>
          </a:prstGeom>
          <a:solidFill>
            <a:srgbClr val="f3e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4480560" y="1188720"/>
            <a:ext cx="3474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Résultats — 1 174 puits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4480560" y="16916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moyen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6400800" y="169164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0.673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4480560" y="21488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moyen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0"/>
          <p:cNvSpPr/>
          <p:nvPr/>
        </p:nvSpPr>
        <p:spPr>
          <a:xfrm>
            <a:off x="6400800" y="214884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0.578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4480560" y="26060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médian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400800" y="260604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0.301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4480560" y="30632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médian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6400800" y="306324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0.248 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5"/>
          <p:cNvSpPr/>
          <p:nvPr/>
        </p:nvSpPr>
        <p:spPr>
          <a:xfrm>
            <a:off x="4389120" y="3840480"/>
            <a:ext cx="3656880" cy="25596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4526280" y="3950280"/>
            <a:ext cx="33825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Limites de la comparaison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Ne voit pas P, T, ET, NDVI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(univarié vs multivarié pour LSTM)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Comparison partielle :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1174 puits vs 854 pour le LSTM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(seuils de données différents)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Modèle généraliste, pas spécialisé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nappes phréatiques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7"/>
          <p:cNvSpPr/>
          <p:nvPr/>
        </p:nvSpPr>
        <p:spPr>
          <a:xfrm>
            <a:off x="8321040" y="1143000"/>
            <a:ext cx="3565440" cy="53028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8412480" y="118872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Fonctionnement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8412480" y="1691640"/>
            <a:ext cx="33825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Historique GWL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(train = tout - 12 mois)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    ↓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chronos-bolt-small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(pré-entraîné)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    ↓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N scénarios possibles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pour les 12 prochains mois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       ↓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Médiane des scénarios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= prédiction finale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2e86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274320" y="91440"/>
            <a:ext cx="11612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Conclusion — Comparaison des approches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274320" y="1188720"/>
            <a:ext cx="10697760" cy="502200"/>
          </a:xfrm>
          <a:prstGeom prst="rect">
            <a:avLst/>
          </a:prstGeom>
          <a:solidFill>
            <a:srgbClr val="1a37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365760" y="1216080"/>
            <a:ext cx="2468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2926080" y="1216080"/>
            <a:ext cx="2651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LSTM (2a)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5760720" y="1216080"/>
            <a:ext cx="3108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Chronos 2 (2b)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9052560" y="1216080"/>
            <a:ext cx="2010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Gain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8"/>
          <p:cNvSpPr/>
          <p:nvPr/>
        </p:nvSpPr>
        <p:spPr>
          <a:xfrm>
            <a:off x="274320" y="1691640"/>
            <a:ext cx="10697760" cy="5022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365760" y="1719000"/>
            <a:ext cx="2376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moyen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2926080" y="1719000"/>
            <a:ext cx="25596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0.805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1"/>
          <p:cNvSpPr/>
          <p:nvPr/>
        </p:nvSpPr>
        <p:spPr>
          <a:xfrm>
            <a:off x="5760720" y="171900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0.673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9052560" y="1719000"/>
            <a:ext cx="1919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5a"/>
                </a:solidFill>
                <a:effectLst/>
                <a:uFillTx/>
                <a:latin typeface="Calibri"/>
              </a:rPr>
              <a:t>−16 %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3"/>
          <p:cNvSpPr/>
          <p:nvPr/>
        </p:nvSpPr>
        <p:spPr>
          <a:xfrm>
            <a:off x="274320" y="2194560"/>
            <a:ext cx="1069776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365760" y="2221920"/>
            <a:ext cx="2376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moyen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5"/>
          <p:cNvSpPr/>
          <p:nvPr/>
        </p:nvSpPr>
        <p:spPr>
          <a:xfrm>
            <a:off x="2926080" y="2221920"/>
            <a:ext cx="25596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0.686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5760720" y="222192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0.578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9052560" y="2221920"/>
            <a:ext cx="1919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5a"/>
                </a:solidFill>
                <a:effectLst/>
                <a:uFillTx/>
                <a:latin typeface="Calibri"/>
              </a:rPr>
              <a:t>−16 %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8"/>
          <p:cNvSpPr/>
          <p:nvPr/>
        </p:nvSpPr>
        <p:spPr>
          <a:xfrm>
            <a:off x="274320" y="2697480"/>
            <a:ext cx="10697760" cy="50220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365760" y="2724840"/>
            <a:ext cx="2376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RMSE médian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0"/>
          <p:cNvSpPr/>
          <p:nvPr/>
        </p:nvSpPr>
        <p:spPr>
          <a:xfrm>
            <a:off x="2926080" y="2724840"/>
            <a:ext cx="25596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0.440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5760720" y="272484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0.301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9052560" y="2724840"/>
            <a:ext cx="1919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5a"/>
                </a:solidFill>
                <a:effectLst/>
                <a:uFillTx/>
                <a:latin typeface="Calibri"/>
              </a:rPr>
              <a:t>−32 %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3"/>
          <p:cNvSpPr/>
          <p:nvPr/>
        </p:nvSpPr>
        <p:spPr>
          <a:xfrm>
            <a:off x="274320" y="3200400"/>
            <a:ext cx="1069776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4"/>
          <p:cNvSpPr/>
          <p:nvPr/>
        </p:nvSpPr>
        <p:spPr>
          <a:xfrm>
            <a:off x="365760" y="3227760"/>
            <a:ext cx="2376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MAE médian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5"/>
          <p:cNvSpPr/>
          <p:nvPr/>
        </p:nvSpPr>
        <p:spPr>
          <a:xfrm>
            <a:off x="2926080" y="3227760"/>
            <a:ext cx="25596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0.356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5760720" y="322776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0.248 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9052560" y="3227760"/>
            <a:ext cx="1919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5a"/>
                </a:solidFill>
                <a:effectLst/>
                <a:uFillTx/>
                <a:latin typeface="Calibri"/>
              </a:rPr>
              <a:t>−30 %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8"/>
          <p:cNvSpPr/>
          <p:nvPr/>
        </p:nvSpPr>
        <p:spPr>
          <a:xfrm>
            <a:off x="274320" y="3794760"/>
            <a:ext cx="5119920" cy="265104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9"/>
          <p:cNvSpPr/>
          <p:nvPr/>
        </p:nvSpPr>
        <p:spPr>
          <a:xfrm>
            <a:off x="411480" y="3904560"/>
            <a:ext cx="484560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b22"/>
                </a:solidFill>
                <a:effectLst/>
                <a:uFillTx/>
                <a:latin typeface="Calibri"/>
              </a:rPr>
              <a:t>LSTM — Points clés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Modèle entraîné sur 2 510 puits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Utilise 6 features (météo + GPS)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Grid search : 108 configurations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Bon résultat pour un modèle from scratch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0"/>
          <p:cNvSpPr/>
          <p:nvPr/>
        </p:nvSpPr>
        <p:spPr>
          <a:xfrm>
            <a:off x="5577840" y="3794760"/>
            <a:ext cx="5119920" cy="2651040"/>
          </a:xfrm>
          <a:prstGeom prst="rect">
            <a:avLst/>
          </a:prstGeom>
          <a:solidFill>
            <a:srgbClr val="f2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31"/>
          <p:cNvSpPr/>
          <p:nvPr/>
        </p:nvSpPr>
        <p:spPr>
          <a:xfrm>
            <a:off x="5715000" y="3904560"/>
            <a:ext cx="484560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a3d9a"/>
                </a:solidFill>
                <a:effectLst/>
                <a:uFillTx/>
                <a:latin typeface="Calibri"/>
              </a:rPr>
              <a:t>Chronos 2 — Points clés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Zero-shot : aucun entraînement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Plus précis malgré moins d'infos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● Foundation models : très efficaces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1a1a2e"/>
                </a:solidFill>
                <a:effectLst/>
                <a:uFillTx/>
                <a:latin typeface="Calibri"/>
              </a:rPr>
              <a:t>  sur les séries temporelles régulières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32"/>
          <p:cNvSpPr/>
          <p:nvPr/>
        </p:nvSpPr>
        <p:spPr>
          <a:xfrm>
            <a:off x="274320" y="6400800"/>
            <a:ext cx="11639520" cy="3466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3"/>
          <p:cNvSpPr/>
          <p:nvPr/>
        </p:nvSpPr>
        <p:spPr>
          <a:xfrm>
            <a:off x="457200" y="6419160"/>
            <a:ext cx="11246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e865a"/>
                </a:solidFill>
                <a:effectLst/>
                <a:uFillTx/>
                <a:latin typeface="Calibri"/>
              </a:rPr>
              <a:t>Les foundation models pré-entraînés peuvent surpasser des modèles spécialisés sans nécessiter d'entraînement sur les données cibles.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2026-04-27T08:24:05Z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